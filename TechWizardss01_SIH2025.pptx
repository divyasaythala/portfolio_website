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1E4EA9-7FF3-4CD3-BC64-1198EBBD7CF9}" v="7" dt="2025-09-26T10:17:16.1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2363" y="230187"/>
            <a:ext cx="10623272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32142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89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89" y="0"/>
                </a:lnTo>
                <a:lnTo>
                  <a:pt x="18287589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36602" y="230187"/>
            <a:ext cx="821479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8648" y="1778818"/>
            <a:ext cx="17321530" cy="5156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51948" y="9657783"/>
            <a:ext cx="3446779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208251" y="9657783"/>
            <a:ext cx="2165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bef.org/government-schemes/skill-india?utm_source=chatgpt.com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www.digitalindia.gov.in/about-us/?utm_source=chatgpt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hatbase.co/docs/user-guides/quick-start/introduction" TargetMode="External"/><Relationship Id="rId5" Type="http://schemas.openxmlformats.org/officeDocument/2006/relationships/hyperlink" Target="https://developers.google.com/youtube/v3/docs?utm_source=chatgpt.com" TargetMode="External"/><Relationship Id="rId4" Type="http://schemas.openxmlformats.org/officeDocument/2006/relationships/hyperlink" Target="https://cloud.google.com/translate/docs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857866" y="1866900"/>
            <a:ext cx="6953250" cy="7734300"/>
            <a:chOff x="8485223" y="1277281"/>
            <a:chExt cx="6953250" cy="7734300"/>
          </a:xfrm>
        </p:grpSpPr>
        <p:sp>
          <p:nvSpPr>
            <p:cNvPr id="3" name="object 3"/>
            <p:cNvSpPr/>
            <p:nvPr/>
          </p:nvSpPr>
          <p:spPr>
            <a:xfrm>
              <a:off x="8485223" y="1277281"/>
              <a:ext cx="6953250" cy="7734300"/>
            </a:xfrm>
            <a:custGeom>
              <a:avLst/>
              <a:gdLst/>
              <a:ahLst/>
              <a:cxnLst/>
              <a:rect l="l" t="t" r="r" b="b"/>
              <a:pathLst>
                <a:path w="6953250" h="7734300">
                  <a:moveTo>
                    <a:pt x="5273432" y="7734299"/>
                  </a:moveTo>
                  <a:lnTo>
                    <a:pt x="2798804" y="7734299"/>
                  </a:lnTo>
                  <a:lnTo>
                    <a:pt x="2755486" y="7731510"/>
                  </a:lnTo>
                  <a:lnTo>
                    <a:pt x="2713181" y="7723274"/>
                  </a:lnTo>
                  <a:lnTo>
                    <a:pt x="2672110" y="7709783"/>
                  </a:lnTo>
                  <a:lnTo>
                    <a:pt x="2632490" y="7691230"/>
                  </a:lnTo>
                  <a:lnTo>
                    <a:pt x="2594538" y="7667807"/>
                  </a:lnTo>
                  <a:lnTo>
                    <a:pt x="2558471" y="7639707"/>
                  </a:lnTo>
                  <a:lnTo>
                    <a:pt x="2524505" y="7607124"/>
                  </a:lnTo>
                  <a:lnTo>
                    <a:pt x="2492855" y="7570250"/>
                  </a:lnTo>
                  <a:lnTo>
                    <a:pt x="2463739" y="7529278"/>
                  </a:lnTo>
                  <a:lnTo>
                    <a:pt x="2437372" y="7484400"/>
                  </a:lnTo>
                  <a:lnTo>
                    <a:pt x="2413970" y="7435810"/>
                  </a:lnTo>
                  <a:lnTo>
                    <a:pt x="1179322" y="4586121"/>
                  </a:lnTo>
                  <a:lnTo>
                    <a:pt x="1160955" y="4540722"/>
                  </a:lnTo>
                  <a:lnTo>
                    <a:pt x="1145927" y="4493597"/>
                  </a:lnTo>
                  <a:lnTo>
                    <a:pt x="1134239" y="4445090"/>
                  </a:lnTo>
                  <a:lnTo>
                    <a:pt x="1125891" y="4395549"/>
                  </a:lnTo>
                  <a:lnTo>
                    <a:pt x="1120882" y="4345318"/>
                  </a:lnTo>
                  <a:lnTo>
                    <a:pt x="1119212" y="4294743"/>
                  </a:lnTo>
                  <a:lnTo>
                    <a:pt x="1120882" y="4244170"/>
                  </a:lnTo>
                  <a:lnTo>
                    <a:pt x="1125891" y="4193945"/>
                  </a:lnTo>
                  <a:lnTo>
                    <a:pt x="1134239" y="4144414"/>
                  </a:lnTo>
                  <a:lnTo>
                    <a:pt x="1145927" y="4095921"/>
                  </a:lnTo>
                  <a:lnTo>
                    <a:pt x="1160955" y="4048813"/>
                  </a:lnTo>
                  <a:lnTo>
                    <a:pt x="1179322" y="4003436"/>
                  </a:lnTo>
                  <a:lnTo>
                    <a:pt x="1676379" y="2856167"/>
                  </a:lnTo>
                  <a:lnTo>
                    <a:pt x="1675047" y="2855405"/>
                  </a:lnTo>
                  <a:lnTo>
                    <a:pt x="1636865" y="2815963"/>
                  </a:lnTo>
                  <a:lnTo>
                    <a:pt x="1606894" y="2763658"/>
                  </a:lnTo>
                  <a:lnTo>
                    <a:pt x="1088420" y="1566943"/>
                  </a:lnTo>
                  <a:lnTo>
                    <a:pt x="1072246" y="1520004"/>
                  </a:lnTo>
                  <a:lnTo>
                    <a:pt x="1064159" y="1470047"/>
                  </a:lnTo>
                  <a:lnTo>
                    <a:pt x="1064159" y="1419084"/>
                  </a:lnTo>
                  <a:lnTo>
                    <a:pt x="1072246" y="1369127"/>
                  </a:lnTo>
                  <a:lnTo>
                    <a:pt x="1088420" y="1322188"/>
                  </a:lnTo>
                  <a:lnTo>
                    <a:pt x="1606946" y="125378"/>
                  </a:lnTo>
                  <a:lnTo>
                    <a:pt x="1630265" y="82571"/>
                  </a:lnTo>
                  <a:lnTo>
                    <a:pt x="1659083" y="47722"/>
                  </a:lnTo>
                  <a:lnTo>
                    <a:pt x="1692396" y="21776"/>
                  </a:lnTo>
                  <a:lnTo>
                    <a:pt x="1729255" y="5586"/>
                  </a:lnTo>
                  <a:lnTo>
                    <a:pt x="1768709" y="0"/>
                  </a:lnTo>
                  <a:lnTo>
                    <a:pt x="2807942" y="0"/>
                  </a:lnTo>
                  <a:lnTo>
                    <a:pt x="2855889" y="8671"/>
                  </a:lnTo>
                  <a:lnTo>
                    <a:pt x="2900248" y="33571"/>
                  </a:lnTo>
                  <a:lnTo>
                    <a:pt x="2938289" y="73030"/>
                  </a:lnTo>
                  <a:lnTo>
                    <a:pt x="2967282" y="125378"/>
                  </a:lnTo>
                  <a:lnTo>
                    <a:pt x="2984068" y="163963"/>
                  </a:lnTo>
                  <a:lnTo>
                    <a:pt x="1827534" y="163963"/>
                  </a:lnTo>
                  <a:lnTo>
                    <a:pt x="1784162" y="171647"/>
                  </a:lnTo>
                  <a:lnTo>
                    <a:pt x="1744699" y="193712"/>
                  </a:lnTo>
                  <a:lnTo>
                    <a:pt x="1710839" y="228674"/>
                  </a:lnTo>
                  <a:lnTo>
                    <a:pt x="1684280" y="275050"/>
                  </a:lnTo>
                  <a:lnTo>
                    <a:pt x="1224630" y="1336003"/>
                  </a:lnTo>
                  <a:lnTo>
                    <a:pt x="1210284" y="1377606"/>
                  </a:lnTo>
                  <a:lnTo>
                    <a:pt x="1203111" y="1421885"/>
                  </a:lnTo>
                  <a:lnTo>
                    <a:pt x="1203111" y="1467055"/>
                  </a:lnTo>
                  <a:lnTo>
                    <a:pt x="1210284" y="1511334"/>
                  </a:lnTo>
                  <a:lnTo>
                    <a:pt x="1224597" y="1552842"/>
                  </a:lnTo>
                  <a:lnTo>
                    <a:pt x="1684280" y="2613890"/>
                  </a:lnTo>
                  <a:lnTo>
                    <a:pt x="1710860" y="2660287"/>
                  </a:lnTo>
                  <a:lnTo>
                    <a:pt x="1744723" y="2695252"/>
                  </a:lnTo>
                  <a:lnTo>
                    <a:pt x="1751671" y="2699159"/>
                  </a:lnTo>
                  <a:lnTo>
                    <a:pt x="1686279" y="2850070"/>
                  </a:lnTo>
                  <a:lnTo>
                    <a:pt x="1727116" y="2870032"/>
                  </a:lnTo>
                  <a:lnTo>
                    <a:pt x="6401873" y="2874936"/>
                  </a:lnTo>
                  <a:lnTo>
                    <a:pt x="6892915" y="4003436"/>
                  </a:lnTo>
                  <a:lnTo>
                    <a:pt x="6911273" y="4048813"/>
                  </a:lnTo>
                  <a:lnTo>
                    <a:pt x="6926296" y="4095921"/>
                  </a:lnTo>
                  <a:lnTo>
                    <a:pt x="6937984" y="4144414"/>
                  </a:lnTo>
                  <a:lnTo>
                    <a:pt x="6946335" y="4193945"/>
                  </a:lnTo>
                  <a:lnTo>
                    <a:pt x="6951347" y="4244170"/>
                  </a:lnTo>
                  <a:lnTo>
                    <a:pt x="6953022" y="4294743"/>
                  </a:lnTo>
                  <a:lnTo>
                    <a:pt x="6951357" y="4345318"/>
                  </a:lnTo>
                  <a:lnTo>
                    <a:pt x="6946352" y="4395549"/>
                  </a:lnTo>
                  <a:lnTo>
                    <a:pt x="6938006" y="4445090"/>
                  </a:lnTo>
                  <a:lnTo>
                    <a:pt x="6926318" y="4493597"/>
                  </a:lnTo>
                  <a:lnTo>
                    <a:pt x="6911288" y="4540722"/>
                  </a:lnTo>
                  <a:lnTo>
                    <a:pt x="6892915" y="4586121"/>
                  </a:lnTo>
                  <a:lnTo>
                    <a:pt x="5652935" y="7435810"/>
                  </a:lnTo>
                  <a:lnTo>
                    <a:pt x="5630728" y="7484400"/>
                  </a:lnTo>
                  <a:lnTo>
                    <a:pt x="5605124" y="7529278"/>
                  </a:lnTo>
                  <a:lnTo>
                    <a:pt x="5576436" y="7570250"/>
                  </a:lnTo>
                  <a:lnTo>
                    <a:pt x="5544976" y="7607124"/>
                  </a:lnTo>
                  <a:lnTo>
                    <a:pt x="5511058" y="7639707"/>
                  </a:lnTo>
                  <a:lnTo>
                    <a:pt x="5474993" y="7667807"/>
                  </a:lnTo>
                  <a:lnTo>
                    <a:pt x="5437096" y="7691230"/>
                  </a:lnTo>
                  <a:lnTo>
                    <a:pt x="5397678" y="7709783"/>
                  </a:lnTo>
                  <a:lnTo>
                    <a:pt x="5357053" y="7723274"/>
                  </a:lnTo>
                  <a:lnTo>
                    <a:pt x="5315533" y="7731510"/>
                  </a:lnTo>
                  <a:lnTo>
                    <a:pt x="5273432" y="7734299"/>
                  </a:lnTo>
                  <a:close/>
                </a:path>
                <a:path w="6953250" h="7734300">
                  <a:moveTo>
                    <a:pt x="3278062" y="839825"/>
                  </a:moveTo>
                  <a:lnTo>
                    <a:pt x="3135855" y="839825"/>
                  </a:lnTo>
                  <a:lnTo>
                    <a:pt x="2890087" y="275050"/>
                  </a:lnTo>
                  <a:lnTo>
                    <a:pt x="2864362" y="228674"/>
                  </a:lnTo>
                  <a:lnTo>
                    <a:pt x="2830632" y="193712"/>
                  </a:lnTo>
                  <a:lnTo>
                    <a:pt x="2791316" y="171647"/>
                  </a:lnTo>
                  <a:lnTo>
                    <a:pt x="2748832" y="163963"/>
                  </a:lnTo>
                  <a:lnTo>
                    <a:pt x="2984068" y="163963"/>
                  </a:lnTo>
                  <a:lnTo>
                    <a:pt x="3278062" y="839825"/>
                  </a:lnTo>
                  <a:close/>
                </a:path>
                <a:path w="6953250" h="7734300">
                  <a:moveTo>
                    <a:pt x="2744644" y="2710972"/>
                  </a:moveTo>
                  <a:lnTo>
                    <a:pt x="1823345" y="2710972"/>
                  </a:lnTo>
                  <a:lnTo>
                    <a:pt x="1812213" y="2710477"/>
                  </a:lnTo>
                  <a:lnTo>
                    <a:pt x="1801250" y="2709007"/>
                  </a:lnTo>
                  <a:lnTo>
                    <a:pt x="1790484" y="2706591"/>
                  </a:lnTo>
                  <a:lnTo>
                    <a:pt x="1779941" y="2703255"/>
                  </a:lnTo>
                  <a:lnTo>
                    <a:pt x="1750053" y="2686678"/>
                  </a:lnTo>
                  <a:lnTo>
                    <a:pt x="2414256" y="1153747"/>
                  </a:lnTo>
                  <a:lnTo>
                    <a:pt x="2437681" y="1105136"/>
                  </a:lnTo>
                  <a:lnTo>
                    <a:pt x="2464070" y="1060245"/>
                  </a:lnTo>
                  <a:lnTo>
                    <a:pt x="2493205" y="1019266"/>
                  </a:lnTo>
                  <a:lnTo>
                    <a:pt x="2524870" y="982391"/>
                  </a:lnTo>
                  <a:lnTo>
                    <a:pt x="2558846" y="949812"/>
                  </a:lnTo>
                  <a:lnTo>
                    <a:pt x="2594917" y="921719"/>
                  </a:lnTo>
                  <a:lnTo>
                    <a:pt x="2632866" y="898304"/>
                  </a:lnTo>
                  <a:lnTo>
                    <a:pt x="2672475" y="879759"/>
                  </a:lnTo>
                  <a:lnTo>
                    <a:pt x="2713529" y="866275"/>
                  </a:lnTo>
                  <a:lnTo>
                    <a:pt x="2755814" y="858045"/>
                  </a:lnTo>
                  <a:lnTo>
                    <a:pt x="2799090" y="855259"/>
                  </a:lnTo>
                  <a:lnTo>
                    <a:pt x="3144422" y="855259"/>
                  </a:lnTo>
                  <a:lnTo>
                    <a:pt x="3347547" y="1321998"/>
                  </a:lnTo>
                  <a:lnTo>
                    <a:pt x="3361894" y="1363601"/>
                  </a:lnTo>
                  <a:lnTo>
                    <a:pt x="3369067" y="1407880"/>
                  </a:lnTo>
                  <a:lnTo>
                    <a:pt x="3369067" y="1453050"/>
                  </a:lnTo>
                  <a:lnTo>
                    <a:pt x="3361894" y="1497329"/>
                  </a:lnTo>
                  <a:lnTo>
                    <a:pt x="3347547" y="1538933"/>
                  </a:lnTo>
                  <a:lnTo>
                    <a:pt x="2885899" y="2599885"/>
                  </a:lnTo>
                  <a:lnTo>
                    <a:pt x="2860173" y="2646262"/>
                  </a:lnTo>
                  <a:lnTo>
                    <a:pt x="2826444" y="2681224"/>
                  </a:lnTo>
                  <a:lnTo>
                    <a:pt x="2787186" y="2703255"/>
                  </a:lnTo>
                  <a:lnTo>
                    <a:pt x="2744644" y="2710972"/>
                  </a:lnTo>
                  <a:close/>
                </a:path>
                <a:path w="6953250" h="7734300">
                  <a:moveTo>
                    <a:pt x="6401873" y="2874936"/>
                  </a:moveTo>
                  <a:lnTo>
                    <a:pt x="2803374" y="2874936"/>
                  </a:lnTo>
                  <a:lnTo>
                    <a:pt x="2851320" y="2866265"/>
                  </a:lnTo>
                  <a:lnTo>
                    <a:pt x="2895679" y="2841364"/>
                  </a:lnTo>
                  <a:lnTo>
                    <a:pt x="2933721" y="2801905"/>
                  </a:lnTo>
                  <a:lnTo>
                    <a:pt x="2962714" y="2749558"/>
                  </a:lnTo>
                  <a:lnTo>
                    <a:pt x="3483472" y="1552842"/>
                  </a:lnTo>
                  <a:lnTo>
                    <a:pt x="3499646" y="1505904"/>
                  </a:lnTo>
                  <a:lnTo>
                    <a:pt x="3507733" y="1455947"/>
                  </a:lnTo>
                  <a:lnTo>
                    <a:pt x="3507733" y="1404984"/>
                  </a:lnTo>
                  <a:lnTo>
                    <a:pt x="3499646" y="1355027"/>
                  </a:lnTo>
                  <a:lnTo>
                    <a:pt x="3483472" y="1308088"/>
                  </a:lnTo>
                  <a:lnTo>
                    <a:pt x="3286439" y="855259"/>
                  </a:lnTo>
                  <a:lnTo>
                    <a:pt x="5273430" y="855259"/>
                  </a:lnTo>
                  <a:lnTo>
                    <a:pt x="5315512" y="858045"/>
                  </a:lnTo>
                  <a:lnTo>
                    <a:pt x="5357018" y="866275"/>
                  </a:lnTo>
                  <a:lnTo>
                    <a:pt x="5397637" y="879759"/>
                  </a:lnTo>
                  <a:lnTo>
                    <a:pt x="5437054" y="898304"/>
                  </a:lnTo>
                  <a:lnTo>
                    <a:pt x="5474955" y="921719"/>
                  </a:lnTo>
                  <a:lnTo>
                    <a:pt x="5511026" y="949812"/>
                  </a:lnTo>
                  <a:lnTo>
                    <a:pt x="5544952" y="982391"/>
                  </a:lnTo>
                  <a:lnTo>
                    <a:pt x="5576421" y="1019266"/>
                  </a:lnTo>
                  <a:lnTo>
                    <a:pt x="5605117" y="1060245"/>
                  </a:lnTo>
                  <a:lnTo>
                    <a:pt x="5630726" y="1105136"/>
                  </a:lnTo>
                  <a:lnTo>
                    <a:pt x="5652935" y="1153747"/>
                  </a:lnTo>
                  <a:lnTo>
                    <a:pt x="6401873" y="2874936"/>
                  </a:lnTo>
                  <a:close/>
                </a:path>
                <a:path w="6953250" h="7734300">
                  <a:moveTo>
                    <a:pt x="1009892" y="6361235"/>
                  </a:moveTo>
                  <a:lnTo>
                    <a:pt x="408321" y="6361235"/>
                  </a:lnTo>
                  <a:lnTo>
                    <a:pt x="379957" y="6356201"/>
                  </a:lnTo>
                  <a:lnTo>
                    <a:pt x="332094" y="6318911"/>
                  </a:lnTo>
                  <a:lnTo>
                    <a:pt x="14634" y="5595912"/>
                  </a:lnTo>
                  <a:lnTo>
                    <a:pt x="0" y="5525077"/>
                  </a:lnTo>
                  <a:lnTo>
                    <a:pt x="3658" y="5488516"/>
                  </a:lnTo>
                  <a:lnTo>
                    <a:pt x="314753" y="4761518"/>
                  </a:lnTo>
                  <a:lnTo>
                    <a:pt x="354284" y="4708356"/>
                  </a:lnTo>
                  <a:lnTo>
                    <a:pt x="408321" y="4688920"/>
                  </a:lnTo>
                  <a:lnTo>
                    <a:pt x="1009892" y="4688920"/>
                  </a:lnTo>
                  <a:lnTo>
                    <a:pt x="1063326" y="4708356"/>
                  </a:lnTo>
                  <a:lnTo>
                    <a:pt x="1102126" y="4761518"/>
                  </a:lnTo>
                  <a:lnTo>
                    <a:pt x="1403578" y="5454242"/>
                  </a:lnTo>
                  <a:lnTo>
                    <a:pt x="1418213" y="5525077"/>
                  </a:lnTo>
                  <a:lnTo>
                    <a:pt x="1414554" y="5561638"/>
                  </a:lnTo>
                  <a:lnTo>
                    <a:pt x="1102126" y="6288637"/>
                  </a:lnTo>
                  <a:lnTo>
                    <a:pt x="1063326" y="6341763"/>
                  </a:lnTo>
                  <a:lnTo>
                    <a:pt x="1009892" y="6361235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2335" y="2573821"/>
              <a:ext cx="4805263" cy="513830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389044" y="1606015"/>
            <a:ext cx="37604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5650" algn="l"/>
              </a:tabLst>
            </a:pPr>
            <a:r>
              <a:rPr sz="4800" b="1" spc="-10" dirty="0">
                <a:latin typeface="Times New Roman"/>
                <a:cs typeface="Times New Roman"/>
              </a:rPr>
              <a:t>TITLE</a:t>
            </a:r>
            <a:r>
              <a:rPr sz="4800" b="1" dirty="0">
                <a:latin typeface="Times New Roman"/>
                <a:cs typeface="Times New Roman"/>
              </a:rPr>
              <a:t>	</a:t>
            </a:r>
            <a:r>
              <a:rPr sz="4800" b="1" spc="-20" dirty="0">
                <a:latin typeface="Times New Roman"/>
                <a:cs typeface="Times New Roman"/>
              </a:rPr>
              <a:t>PAGE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04086" y="216339"/>
            <a:ext cx="121304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45435" algn="l"/>
                <a:tab pos="5377815" algn="l"/>
                <a:tab pos="10688320" algn="l"/>
              </a:tabLst>
            </a:pPr>
            <a:r>
              <a:rPr sz="6000" spc="-10" dirty="0">
                <a:solidFill>
                  <a:srgbClr val="1F497D"/>
                </a:solidFill>
              </a:rPr>
              <a:t>SMART</a:t>
            </a:r>
            <a:r>
              <a:rPr sz="6000" dirty="0">
                <a:solidFill>
                  <a:srgbClr val="1F497D"/>
                </a:solidFill>
              </a:rPr>
              <a:t>	</a:t>
            </a:r>
            <a:r>
              <a:rPr sz="6000" spc="130" dirty="0">
                <a:solidFill>
                  <a:srgbClr val="1F497D"/>
                </a:solidFill>
              </a:rPr>
              <a:t>INDIA</a:t>
            </a:r>
            <a:r>
              <a:rPr sz="6000" dirty="0">
                <a:solidFill>
                  <a:srgbClr val="1F497D"/>
                </a:solidFill>
              </a:rPr>
              <a:t>	</a:t>
            </a:r>
            <a:r>
              <a:rPr sz="6000" spc="-10" dirty="0">
                <a:solidFill>
                  <a:srgbClr val="1F497D"/>
                </a:solidFill>
              </a:rPr>
              <a:t>HACKATHON</a:t>
            </a:r>
            <a:r>
              <a:rPr sz="6000" dirty="0">
                <a:solidFill>
                  <a:srgbClr val="1F497D"/>
                </a:solidFill>
              </a:rPr>
              <a:t>	</a:t>
            </a:r>
            <a:r>
              <a:rPr sz="6000" spc="-180" dirty="0">
                <a:solidFill>
                  <a:srgbClr val="1F497D"/>
                </a:solidFill>
              </a:rPr>
              <a:t>2025</a:t>
            </a:r>
            <a:endParaRPr sz="6000"/>
          </a:p>
        </p:txBody>
      </p:sp>
      <p:sp>
        <p:nvSpPr>
          <p:cNvPr id="8" name="object 8"/>
          <p:cNvSpPr txBox="1"/>
          <p:nvPr/>
        </p:nvSpPr>
        <p:spPr>
          <a:xfrm>
            <a:off x="1318756" y="2247900"/>
            <a:ext cx="12222758" cy="7296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Problem Statement ID </a:t>
            </a:r>
            <a:r>
              <a:rPr sz="3600" b="1" spc="-50" dirty="0">
                <a:latin typeface="Arial"/>
                <a:cs typeface="Arial"/>
              </a:rPr>
              <a:t>–</a:t>
            </a:r>
            <a:r>
              <a:rPr lang="en-IN" sz="3600" b="1" spc="-50" dirty="0">
                <a:latin typeface="Arial"/>
                <a:cs typeface="Arial"/>
              </a:rPr>
              <a:t> </a:t>
            </a:r>
            <a:r>
              <a:rPr lang="en-IN" sz="3600" spc="-50" dirty="0">
                <a:latin typeface="Arial"/>
                <a:cs typeface="Arial"/>
              </a:rPr>
              <a:t>SIH25203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3600" b="1" spc="-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Problem Statement </a:t>
            </a:r>
            <a:r>
              <a:rPr sz="3600" b="1" spc="-10" dirty="0">
                <a:latin typeface="Arial"/>
                <a:cs typeface="Arial"/>
              </a:rPr>
              <a:t>Title-</a:t>
            </a:r>
            <a:r>
              <a:rPr lang="en-IN" sz="3600" b="1" spc="-10" dirty="0">
                <a:latin typeface="Arial"/>
                <a:cs typeface="Arial"/>
              </a:rPr>
              <a:t> </a:t>
            </a:r>
            <a:r>
              <a:rPr lang="en-US" sz="3600" spc="-10" dirty="0">
                <a:latin typeface="Arial"/>
                <a:cs typeface="Arial"/>
              </a:rPr>
              <a:t>AI-Powered Multilingual Content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10" dirty="0">
                <a:latin typeface="Arial"/>
                <a:cs typeface="Arial"/>
              </a:rPr>
              <a:t>Localization Engine for Skill Courses</a:t>
            </a:r>
          </a:p>
          <a:p>
            <a:pPr marL="12700" marR="2063114">
              <a:lnSpc>
                <a:spcPts val="8630"/>
              </a:lnSpc>
              <a:spcBef>
                <a:spcPts val="1000"/>
              </a:spcBef>
            </a:pPr>
            <a:r>
              <a:rPr sz="3600" b="1" spc="-10" dirty="0">
                <a:latin typeface="Arial"/>
                <a:cs typeface="Arial"/>
              </a:rPr>
              <a:t>Theme-</a:t>
            </a:r>
            <a:r>
              <a:rPr lang="en-IN" sz="3600" b="1" spc="-10" dirty="0">
                <a:latin typeface="Arial"/>
                <a:cs typeface="Arial"/>
              </a:rPr>
              <a:t> </a:t>
            </a:r>
            <a:r>
              <a:rPr lang="en-IN" sz="3600" dirty="0"/>
              <a:t>Miscellaneous</a:t>
            </a:r>
            <a:endParaRPr sz="3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94"/>
              </a:spcBef>
            </a:pPr>
            <a:r>
              <a:rPr sz="3600" b="1" dirty="0">
                <a:latin typeface="Arial"/>
                <a:cs typeface="Arial"/>
              </a:rPr>
              <a:t>PS Category- </a:t>
            </a:r>
            <a:r>
              <a:rPr sz="3600" spc="-10" dirty="0">
                <a:latin typeface="Arial"/>
                <a:cs typeface="Arial"/>
              </a:rPr>
              <a:t>Software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3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IN" sz="3600" b="1" spc="-25" dirty="0">
                <a:latin typeface="Arial"/>
                <a:cs typeface="Arial"/>
              </a:rPr>
              <a:t>Team ID- </a:t>
            </a:r>
            <a:r>
              <a:rPr lang="en-IN" sz="3600" spc="-25" dirty="0">
                <a:latin typeface="Arial"/>
                <a:cs typeface="Arial"/>
              </a:rPr>
              <a:t>76257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3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600" b="1" dirty="0">
                <a:latin typeface="Arial"/>
                <a:cs typeface="Arial"/>
              </a:rPr>
              <a:t>Team</a:t>
            </a:r>
            <a:r>
              <a:rPr sz="3600" b="1" spc="-1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Name</a:t>
            </a:r>
            <a:r>
              <a:rPr sz="3600" b="1" spc="-1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(Registered</a:t>
            </a:r>
            <a:r>
              <a:rPr sz="3600" b="1" spc="-1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on</a:t>
            </a:r>
            <a:r>
              <a:rPr sz="3600" b="1" spc="-10" dirty="0">
                <a:latin typeface="Arial"/>
                <a:cs typeface="Arial"/>
              </a:rPr>
              <a:t> portal)</a:t>
            </a:r>
            <a:r>
              <a:rPr lang="en-IN" sz="3600" b="1" spc="-10" dirty="0">
                <a:latin typeface="Arial"/>
                <a:cs typeface="Arial"/>
              </a:rPr>
              <a:t> – </a:t>
            </a:r>
            <a:r>
              <a:rPr lang="en-IN" sz="3600" spc="-10" dirty="0">
                <a:latin typeface="Arial"/>
                <a:cs typeface="Arial"/>
              </a:rPr>
              <a:t>Tech Wizards</a:t>
            </a:r>
          </a:p>
          <a:p>
            <a:pPr marL="12700">
              <a:lnSpc>
                <a:spcPct val="100000"/>
              </a:lnSpc>
            </a:pPr>
            <a:r>
              <a:rPr lang="en-IN" sz="3600" b="1" spc="-10" dirty="0">
                <a:latin typeface="Arial"/>
                <a:cs typeface="Arial"/>
              </a:rPr>
              <a:t>AICTE Code- </a:t>
            </a:r>
            <a:r>
              <a:rPr lang="en-IN" sz="3600" spc="-10" dirty="0">
                <a:latin typeface="Arial"/>
                <a:cs typeface="Arial"/>
              </a:rPr>
              <a:t>C-19837</a:t>
            </a:r>
            <a:endParaRPr sz="3600" dirty="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62049" y="9445"/>
            <a:ext cx="3313652" cy="16843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7128" y="711200"/>
            <a:ext cx="403415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7225" algn="l"/>
              </a:tabLst>
            </a:pPr>
            <a:r>
              <a:rPr spc="-20" dirty="0"/>
              <a:t>IDEA</a:t>
            </a:r>
            <a:r>
              <a:rPr dirty="0"/>
              <a:t>	</a:t>
            </a:r>
            <a:r>
              <a:rPr spc="-10" dirty="0"/>
              <a:t>TITLE</a:t>
            </a:r>
          </a:p>
        </p:txBody>
      </p:sp>
      <p:sp>
        <p:nvSpPr>
          <p:cNvPr id="5" name="object 5"/>
          <p:cNvSpPr/>
          <p:nvPr/>
        </p:nvSpPr>
        <p:spPr>
          <a:xfrm>
            <a:off x="17998678" y="3752701"/>
            <a:ext cx="12700" cy="57150"/>
          </a:xfrm>
          <a:custGeom>
            <a:avLst/>
            <a:gdLst/>
            <a:ahLst/>
            <a:cxnLst/>
            <a:rect l="l" t="t" r="r" b="b"/>
            <a:pathLst>
              <a:path w="12700" h="57150">
                <a:moveTo>
                  <a:pt x="12560" y="57149"/>
                </a:moveTo>
                <a:lnTo>
                  <a:pt x="0" y="57149"/>
                </a:lnTo>
                <a:lnTo>
                  <a:pt x="0" y="0"/>
                </a:lnTo>
                <a:lnTo>
                  <a:pt x="12560" y="0"/>
                </a:lnTo>
                <a:lnTo>
                  <a:pt x="12560" y="57149"/>
                </a:lnTo>
                <a:close/>
              </a:path>
            </a:pathLst>
          </a:custGeom>
          <a:solidFill>
            <a:srgbClr val="1F49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11269" y="6038701"/>
            <a:ext cx="17204690" cy="1392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  <a:tabLst>
                <a:tab pos="3101340" algn="l"/>
                <a:tab pos="5708650" algn="l"/>
                <a:tab pos="10146665" algn="l"/>
              </a:tabLst>
            </a:pPr>
            <a:endParaRPr sz="4800" dirty="0">
              <a:latin typeface="Arial"/>
              <a:cs typeface="Arial"/>
            </a:endParaRPr>
          </a:p>
          <a:p>
            <a:pPr marL="160655" marR="6508115" indent="-148590">
              <a:lnSpc>
                <a:spcPts val="5030"/>
              </a:lnSpc>
              <a:tabLst>
                <a:tab pos="1376045" algn="l"/>
                <a:tab pos="1790700" algn="l"/>
                <a:tab pos="2117725" algn="l"/>
                <a:tab pos="4399915" algn="l"/>
                <a:tab pos="4994275" algn="l"/>
                <a:tab pos="5289550" algn="l"/>
                <a:tab pos="5587365" algn="l"/>
                <a:tab pos="6477000" algn="l"/>
                <a:tab pos="8849360" algn="l"/>
              </a:tabLst>
            </a:pPr>
            <a:endParaRPr sz="4200" dirty="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5609" y="35931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4400" y="547186"/>
            <a:ext cx="1576134" cy="87267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47980" marR="5080" indent="-335915">
              <a:lnSpc>
                <a:spcPts val="3229"/>
              </a:lnSpc>
              <a:spcBef>
                <a:spcPts val="204"/>
              </a:spcBef>
            </a:pPr>
            <a:r>
              <a:rPr lang="en-IN" sz="2700" b="1" dirty="0">
                <a:latin typeface="Calibri"/>
                <a:cs typeface="Calibri"/>
              </a:rPr>
              <a:t>Tech</a:t>
            </a:r>
          </a:p>
          <a:p>
            <a:pPr marL="347980" marR="5080" indent="-335915">
              <a:lnSpc>
                <a:spcPts val="3229"/>
              </a:lnSpc>
              <a:spcBef>
                <a:spcPts val="204"/>
              </a:spcBef>
            </a:pPr>
            <a:r>
              <a:rPr lang="en-IN" sz="2700" b="1" dirty="0">
                <a:latin typeface="Calibri"/>
                <a:cs typeface="Calibri"/>
              </a:rPr>
              <a:t>Wizards</a:t>
            </a:r>
            <a:endParaRPr sz="2700" b="1" dirty="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59CBAF8-3CBE-B515-C95F-CC86609E7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3528" y="2101434"/>
            <a:ext cx="7562918" cy="8156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u="sng" dirty="0">
                <a:solidFill>
                  <a:schemeClr val="accent1"/>
                </a:solidFill>
              </a:rPr>
              <a:t>SOLUTION</a:t>
            </a:r>
          </a:p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Pravaha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AI-powered multilingual content localization engine designed to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courses accessible in 22+ Indian languages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website interface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localized skill videos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(subtitles),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translated study materials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speech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-to-text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Cultural adaptation, that is, converting American or other language units to Indian friendly units.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Text-to-speech support in a desirable language for differently abled people.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Providing a glossary to refer to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F193AF-ED3F-CB99-B373-A94B60E478E3}"/>
              </a:ext>
            </a:extLst>
          </p:cNvPr>
          <p:cNvCxnSpPr>
            <a:cxnSpLocks/>
          </p:cNvCxnSpPr>
          <p:nvPr/>
        </p:nvCxnSpPr>
        <p:spPr>
          <a:xfrm>
            <a:off x="9144000" y="2150377"/>
            <a:ext cx="0" cy="7183554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4049414-FFD4-5543-4DCE-0F2556A4E4FB}"/>
              </a:ext>
            </a:extLst>
          </p:cNvPr>
          <p:cNvSpPr txBox="1"/>
          <p:nvPr/>
        </p:nvSpPr>
        <p:spPr>
          <a:xfrm>
            <a:off x="658741" y="2081123"/>
            <a:ext cx="820108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u="sng" dirty="0">
                <a:solidFill>
                  <a:schemeClr val="accent1"/>
                </a:solidFill>
              </a:rPr>
              <a:t>PROBLEM STATEMENT</a:t>
            </a:r>
            <a:endParaRPr lang="en-US" sz="4000" b="1" dirty="0">
              <a:solidFill>
                <a:schemeClr val="accent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Skill development courses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available only in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English or a few major Indian languages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Learners from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 and regional backgrounds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face difficulty in understanding and retaining course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localized study materials and videos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creates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divide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3155" y="230187"/>
            <a:ext cx="84220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92295" algn="l"/>
              </a:tabLst>
            </a:pPr>
            <a:r>
              <a:rPr spc="-10" dirty="0"/>
              <a:t>TECHNICAL</a:t>
            </a:r>
            <a:r>
              <a:rPr dirty="0"/>
              <a:t>	</a:t>
            </a:r>
            <a:r>
              <a:rPr spc="95" dirty="0"/>
              <a:t>APPROACH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6554" y="2628900"/>
            <a:ext cx="9190846" cy="529035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5030"/>
              </a:lnSpc>
              <a:spcBef>
                <a:spcPts val="275"/>
              </a:spcBef>
              <a:tabLst>
                <a:tab pos="3065145" algn="l"/>
              </a:tabLst>
            </a:pPr>
            <a:r>
              <a:rPr lang="en-IN" sz="4000" b="1" dirty="0">
                <a:solidFill>
                  <a:schemeClr val="accent1"/>
                </a:solidFill>
                <a:latin typeface="Arial MT"/>
                <a:cs typeface="Arial MT"/>
              </a:rPr>
              <a:t>TECH STACK</a:t>
            </a:r>
          </a:p>
          <a:p>
            <a:pPr marL="469900" marR="5080" indent="-457200">
              <a:lnSpc>
                <a:spcPts val="5030"/>
              </a:lnSpc>
              <a:spcBef>
                <a:spcPts val="275"/>
              </a:spcBef>
              <a:buFont typeface="Arial" panose="020B0604020202020204" pitchFamily="34" charset="0"/>
              <a:buChar char="•"/>
              <a:tabLst>
                <a:tab pos="3065145" algn="l"/>
              </a:tabLst>
            </a:pPr>
            <a:r>
              <a:rPr lang="en-IN" sz="3200" b="1" dirty="0">
                <a:latin typeface="Arial MT"/>
                <a:cs typeface="Arial MT"/>
              </a:rPr>
              <a:t>Frontend-</a:t>
            </a:r>
            <a:r>
              <a:rPr lang="en-IN" sz="3200" dirty="0">
                <a:latin typeface="Arial MT"/>
                <a:cs typeface="Arial MT"/>
              </a:rPr>
              <a:t> HTML, CSS, JavaScript	  </a:t>
            </a:r>
          </a:p>
          <a:p>
            <a:pPr marL="469900" marR="5080" indent="-457200">
              <a:lnSpc>
                <a:spcPts val="5030"/>
              </a:lnSpc>
              <a:spcBef>
                <a:spcPts val="275"/>
              </a:spcBef>
              <a:buFont typeface="Arial" panose="020B0604020202020204" pitchFamily="34" charset="0"/>
              <a:buChar char="•"/>
              <a:tabLst>
                <a:tab pos="3065145" algn="l"/>
              </a:tabLst>
            </a:pPr>
            <a:r>
              <a:rPr lang="en-IN" sz="3200" b="1" dirty="0">
                <a:latin typeface="Arial MT"/>
                <a:cs typeface="Arial MT"/>
              </a:rPr>
              <a:t>AI Integration- </a:t>
            </a:r>
            <a:r>
              <a:rPr lang="en-IN" sz="3200" dirty="0">
                <a:latin typeface="Arial MT"/>
                <a:cs typeface="Arial MT"/>
              </a:rPr>
              <a:t>Google Translate (NMT), OpenAI, Wiktionary, OpenCV, </a:t>
            </a:r>
            <a:r>
              <a:rPr lang="en-IN" sz="3200" dirty="0" err="1">
                <a:latin typeface="Arial MT"/>
                <a:cs typeface="Arial MT"/>
              </a:rPr>
              <a:t>spaCy</a:t>
            </a:r>
            <a:endParaRPr lang="en-IN" sz="3200" dirty="0">
              <a:latin typeface="Arial MT"/>
              <a:cs typeface="Arial MT"/>
            </a:endParaRPr>
          </a:p>
          <a:p>
            <a:pPr marL="469900" marR="5080" indent="-457200">
              <a:lnSpc>
                <a:spcPts val="5030"/>
              </a:lnSpc>
              <a:spcBef>
                <a:spcPts val="275"/>
              </a:spcBef>
              <a:buFont typeface="Arial" panose="020B0604020202020204" pitchFamily="34" charset="0"/>
              <a:buChar char="•"/>
              <a:tabLst>
                <a:tab pos="3065145" algn="l"/>
              </a:tabLst>
            </a:pPr>
            <a:r>
              <a:rPr lang="en-IN" sz="3200" b="1" dirty="0">
                <a:latin typeface="Arial MT"/>
                <a:cs typeface="Arial MT"/>
              </a:rPr>
              <a:t>Video &amp; Course Integration- </a:t>
            </a:r>
            <a:r>
              <a:rPr lang="en-IN" sz="3200" dirty="0">
                <a:latin typeface="Arial MT"/>
                <a:cs typeface="Arial MT"/>
              </a:rPr>
              <a:t>YouTube API	 </a:t>
            </a:r>
          </a:p>
          <a:p>
            <a:pPr marL="469900" marR="5080" indent="-457200">
              <a:lnSpc>
                <a:spcPts val="5030"/>
              </a:lnSpc>
              <a:spcBef>
                <a:spcPts val="275"/>
              </a:spcBef>
              <a:buFont typeface="Arial" panose="020B0604020202020204" pitchFamily="34" charset="0"/>
              <a:buChar char="•"/>
              <a:tabLst>
                <a:tab pos="3065145" algn="l"/>
              </a:tabLst>
            </a:pPr>
            <a:r>
              <a:rPr lang="en-IN" sz="3200" b="1" dirty="0">
                <a:latin typeface="Arial MT"/>
                <a:cs typeface="Arial MT"/>
              </a:rPr>
              <a:t> Personalisation- </a:t>
            </a:r>
            <a:r>
              <a:rPr lang="en-IN" sz="3200" dirty="0" err="1">
                <a:latin typeface="Arial MT"/>
                <a:cs typeface="Arial MT"/>
              </a:rPr>
              <a:t>Chatbase</a:t>
            </a:r>
            <a:r>
              <a:rPr lang="en-IN" sz="3200" dirty="0">
                <a:latin typeface="Arial MT"/>
                <a:cs typeface="Arial MT"/>
              </a:rPr>
              <a:t> API</a:t>
            </a:r>
          </a:p>
          <a:p>
            <a:pPr marL="469900" marR="5080" indent="-457200">
              <a:lnSpc>
                <a:spcPts val="5030"/>
              </a:lnSpc>
              <a:spcBef>
                <a:spcPts val="275"/>
              </a:spcBef>
              <a:buFont typeface="Arial" panose="020B0604020202020204" pitchFamily="34" charset="0"/>
              <a:buChar char="•"/>
              <a:tabLst>
                <a:tab pos="3065145" algn="l"/>
              </a:tabLst>
            </a:pPr>
            <a:r>
              <a:rPr lang="en-IN" sz="3200" b="1" dirty="0">
                <a:latin typeface="Arial MT"/>
                <a:cs typeface="Arial MT"/>
              </a:rPr>
              <a:t>Data Storage- </a:t>
            </a:r>
            <a:r>
              <a:rPr lang="en-IN" sz="3200" dirty="0">
                <a:latin typeface="Arial MT"/>
                <a:cs typeface="Arial MT"/>
              </a:rPr>
              <a:t>MySQL, Google Cloud or MongoDB</a:t>
            </a:r>
            <a:endParaRPr lang="en-IN" sz="3200" b="1" dirty="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7170" y="320676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0227" y="508544"/>
            <a:ext cx="1463373" cy="87267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47980" marR="5080" indent="-335915">
              <a:lnSpc>
                <a:spcPts val="3229"/>
              </a:lnSpc>
              <a:spcBef>
                <a:spcPts val="204"/>
              </a:spcBef>
            </a:pPr>
            <a:r>
              <a:rPr lang="en-IN" sz="2700" b="1" dirty="0">
                <a:latin typeface="Calibri"/>
                <a:cs typeface="Calibri"/>
              </a:rPr>
              <a:t>Tech</a:t>
            </a:r>
          </a:p>
          <a:p>
            <a:pPr marL="347980" marR="5080" indent="-335915">
              <a:lnSpc>
                <a:spcPts val="3229"/>
              </a:lnSpc>
              <a:spcBef>
                <a:spcPts val="204"/>
              </a:spcBef>
            </a:pPr>
            <a:r>
              <a:rPr lang="en-IN" sz="2700" b="1" dirty="0">
                <a:latin typeface="Calibri"/>
                <a:cs typeface="Calibri"/>
              </a:rPr>
              <a:t>Wizards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884AE-F44D-C730-4F69-8809779AE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381" y="1569086"/>
            <a:ext cx="5782567" cy="77732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4367" y="230187"/>
            <a:ext cx="99993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0260" algn="l"/>
                <a:tab pos="6342380" algn="l"/>
              </a:tabLst>
            </a:pPr>
            <a:r>
              <a:rPr spc="-10" dirty="0"/>
              <a:t>FEASIBILITY</a:t>
            </a:r>
            <a:r>
              <a:rPr dirty="0"/>
              <a:t>	</a:t>
            </a:r>
            <a:r>
              <a:rPr spc="114" dirty="0"/>
              <a:t>AND</a:t>
            </a:r>
            <a:r>
              <a:rPr dirty="0"/>
              <a:t>	</a:t>
            </a:r>
            <a:r>
              <a:rPr spc="-10" dirty="0"/>
              <a:t>VIABILITY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801" y="2019300"/>
            <a:ext cx="7098660" cy="5174943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1783714">
              <a:lnSpc>
                <a:spcPts val="5030"/>
              </a:lnSpc>
              <a:spcBef>
                <a:spcPts val="275"/>
              </a:spcBef>
              <a:tabLst>
                <a:tab pos="2146935" algn="l"/>
                <a:tab pos="2236470" algn="l"/>
                <a:tab pos="2740025" algn="l"/>
                <a:tab pos="3629660" algn="l"/>
                <a:tab pos="4934585" algn="l"/>
                <a:tab pos="5971540" algn="l"/>
                <a:tab pos="6564630" algn="l"/>
                <a:tab pos="7454265" algn="l"/>
              </a:tabLst>
            </a:pPr>
            <a:r>
              <a:rPr lang="en-US" sz="4000" dirty="0">
                <a:solidFill>
                  <a:schemeClr val="accent1"/>
                </a:solidFill>
              </a:rPr>
              <a:t>Feasibility:</a:t>
            </a:r>
            <a:endParaRPr lang="en-US" sz="3200" dirty="0">
              <a:solidFill>
                <a:schemeClr val="tx1"/>
              </a:solidFill>
            </a:endParaRPr>
          </a:p>
          <a:p>
            <a:pPr marL="469900" marR="1783714" indent="-457200">
              <a:lnSpc>
                <a:spcPts val="5030"/>
              </a:lnSpc>
              <a:spcBef>
                <a:spcPts val="275"/>
              </a:spcBef>
              <a:buFont typeface="Arial" panose="020B0604020202020204" pitchFamily="34" charset="0"/>
              <a:buChar char="•"/>
              <a:tabLst>
                <a:tab pos="2146935" algn="l"/>
                <a:tab pos="2236470" algn="l"/>
                <a:tab pos="2740025" algn="l"/>
                <a:tab pos="3629660" algn="l"/>
                <a:tab pos="4934585" algn="l"/>
                <a:tab pos="5971540" algn="l"/>
                <a:tab pos="6564630" algn="l"/>
                <a:tab pos="7454265" algn="l"/>
              </a:tabLst>
            </a:pPr>
            <a:r>
              <a:rPr lang="en-US" sz="3200" dirty="0">
                <a:solidFill>
                  <a:schemeClr val="tx1"/>
                </a:solidFill>
              </a:rPr>
              <a:t>Automatic multilingual website interface, skill video localization, and study material translation.</a:t>
            </a:r>
          </a:p>
          <a:p>
            <a:pPr marL="469900" marR="1783714" indent="-457200">
              <a:lnSpc>
                <a:spcPts val="5030"/>
              </a:lnSpc>
              <a:spcBef>
                <a:spcPts val="275"/>
              </a:spcBef>
              <a:buFont typeface="Arial" panose="020B0604020202020204" pitchFamily="34" charset="0"/>
              <a:buChar char="•"/>
              <a:tabLst>
                <a:tab pos="2146935" algn="l"/>
                <a:tab pos="2236470" algn="l"/>
                <a:tab pos="2740025" algn="l"/>
                <a:tab pos="3629660" algn="l"/>
                <a:tab pos="4934585" algn="l"/>
                <a:tab pos="5971540" algn="l"/>
                <a:tab pos="6564630" algn="l"/>
                <a:tab pos="7454265" algn="l"/>
              </a:tabLst>
            </a:pPr>
            <a:r>
              <a:rPr lang="en-US" sz="3200" dirty="0">
                <a:solidFill>
                  <a:schemeClr val="tx1"/>
                </a:solidFill>
              </a:rPr>
              <a:t>Scalable as more languages and courses are added.</a:t>
            </a:r>
          </a:p>
        </p:txBody>
      </p:sp>
      <p:sp>
        <p:nvSpPr>
          <p:cNvPr id="7" name="object 7"/>
          <p:cNvSpPr/>
          <p:nvPr/>
        </p:nvSpPr>
        <p:spPr>
          <a:xfrm>
            <a:off x="475609" y="35931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65499" y="536843"/>
            <a:ext cx="1526540" cy="87267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47980" marR="5080" indent="-335915">
              <a:lnSpc>
                <a:spcPts val="3229"/>
              </a:lnSpc>
              <a:spcBef>
                <a:spcPts val="204"/>
              </a:spcBef>
            </a:pPr>
            <a:r>
              <a:rPr lang="en-IN" sz="2700" b="1" dirty="0">
                <a:latin typeface="Calibri"/>
                <a:cs typeface="Calibri"/>
              </a:rPr>
              <a:t>Tech</a:t>
            </a:r>
          </a:p>
          <a:p>
            <a:pPr marL="347980" marR="5080" indent="-335915">
              <a:lnSpc>
                <a:spcPts val="3229"/>
              </a:lnSpc>
              <a:spcBef>
                <a:spcPts val="204"/>
              </a:spcBef>
            </a:pPr>
            <a:r>
              <a:rPr lang="en-IN" sz="2700" b="1" dirty="0">
                <a:latin typeface="Calibri"/>
                <a:cs typeface="Calibri"/>
              </a:rPr>
              <a:t>Wizards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524EB8-43E7-E816-4901-A5EF3CD5573B}"/>
              </a:ext>
            </a:extLst>
          </p:cNvPr>
          <p:cNvCxnSpPr>
            <a:cxnSpLocks/>
          </p:cNvCxnSpPr>
          <p:nvPr/>
        </p:nvCxnSpPr>
        <p:spPr>
          <a:xfrm>
            <a:off x="5867400" y="2019300"/>
            <a:ext cx="0" cy="7183554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098EE5-216D-1E94-09C9-A7977E3FDB67}"/>
              </a:ext>
            </a:extLst>
          </p:cNvPr>
          <p:cNvCxnSpPr>
            <a:cxnSpLocks/>
          </p:cNvCxnSpPr>
          <p:nvPr/>
        </p:nvCxnSpPr>
        <p:spPr>
          <a:xfrm>
            <a:off x="11915632" y="2019300"/>
            <a:ext cx="0" cy="7183554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A450672-60E9-AC4B-036F-D5334F3CEFF4}"/>
              </a:ext>
            </a:extLst>
          </p:cNvPr>
          <p:cNvSpPr txBox="1"/>
          <p:nvPr/>
        </p:nvSpPr>
        <p:spPr>
          <a:xfrm>
            <a:off x="6096000" y="2019300"/>
            <a:ext cx="57911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Challenges</a:t>
            </a:r>
            <a:r>
              <a:rPr lang="en-IN" sz="1800" dirty="0">
                <a:solidFill>
                  <a:schemeClr val="accent1"/>
                </a:solidFill>
              </a:rPr>
              <a:t> </a:t>
            </a:r>
          </a:p>
          <a:p>
            <a:endParaRPr lang="en-US" sz="32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Personalized career guidance requires continuous content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Cultural adaptation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E53152-A3BC-9136-FFEA-71A56BBFBA5A}"/>
              </a:ext>
            </a:extLst>
          </p:cNvPr>
          <p:cNvSpPr txBox="1"/>
          <p:nvPr/>
        </p:nvSpPr>
        <p:spPr>
          <a:xfrm>
            <a:off x="12225427" y="1866900"/>
            <a:ext cx="606257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Strategies</a:t>
            </a:r>
          </a:p>
          <a:p>
            <a:r>
              <a:rPr lang="en-IN" sz="4000" dirty="0">
                <a:solidFill>
                  <a:schemeClr val="accent1"/>
                </a:solidFill>
              </a:rPr>
              <a:t>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Include human review for critical translations and key study materials.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Offer downloadable PDFs and offline access for study material.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Use lightweight video streaming.</a:t>
            </a:r>
            <a:endParaRPr lang="en-IN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28315" algn="l"/>
                <a:tab pos="4750435" algn="l"/>
              </a:tabLst>
            </a:pPr>
            <a:r>
              <a:rPr spc="55" dirty="0"/>
              <a:t>IMPACT</a:t>
            </a:r>
            <a:r>
              <a:rPr dirty="0"/>
              <a:t>	</a:t>
            </a:r>
            <a:r>
              <a:rPr spc="114" dirty="0"/>
              <a:t>AND</a:t>
            </a:r>
            <a:r>
              <a:rPr dirty="0"/>
              <a:t>	</a:t>
            </a:r>
            <a:r>
              <a:rPr spc="35" dirty="0"/>
              <a:t>BENEFITS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5969" y="2171700"/>
            <a:ext cx="17207231" cy="51268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ts val="503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236470" algn="l"/>
                <a:tab pos="3955415" algn="l"/>
                <a:tab pos="4697095" algn="l"/>
                <a:tab pos="5586730" algn="l"/>
                <a:tab pos="7098665" algn="l"/>
              </a:tabLst>
            </a:pPr>
            <a:r>
              <a:rPr lang="en-US" sz="3200" dirty="0">
                <a:latin typeface="Arial MT"/>
                <a:cs typeface="Arial MT"/>
              </a:rPr>
              <a:t>Promotes inclusive education and equal learning opportunities.</a:t>
            </a:r>
          </a:p>
          <a:p>
            <a:pPr marL="469900" indent="-457200">
              <a:lnSpc>
                <a:spcPts val="503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236470" algn="l"/>
                <a:tab pos="3955415" algn="l"/>
                <a:tab pos="4697095" algn="l"/>
                <a:tab pos="5586730" algn="l"/>
                <a:tab pos="7098665" algn="l"/>
              </a:tabLst>
            </a:pPr>
            <a:r>
              <a:rPr lang="en-US" sz="3200" dirty="0">
                <a:latin typeface="Arial MT"/>
                <a:cs typeface="Arial MT"/>
              </a:rPr>
              <a:t>Reduces language-based barriers, empowering underserved communities.</a:t>
            </a:r>
          </a:p>
          <a:p>
            <a:pPr marL="469900" indent="-457200">
              <a:lnSpc>
                <a:spcPts val="503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236470" algn="l"/>
                <a:tab pos="3955415" algn="l"/>
                <a:tab pos="4697095" algn="l"/>
                <a:tab pos="5586730" algn="l"/>
                <a:tab pos="7098665" algn="l"/>
              </a:tabLst>
            </a:pPr>
            <a:r>
              <a:rPr lang="en-US" sz="3200" dirty="0">
                <a:latin typeface="Arial MT"/>
                <a:cs typeface="Arial MT"/>
              </a:rPr>
              <a:t>Learners from diverse regions can access skill courses in their mother tongue (22+ languages).</a:t>
            </a:r>
          </a:p>
          <a:p>
            <a:pPr marL="469900" indent="-457200">
              <a:lnSpc>
                <a:spcPts val="503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236470" algn="l"/>
                <a:tab pos="3955415" algn="l"/>
                <a:tab pos="4697095" algn="l"/>
                <a:tab pos="5586730" algn="l"/>
                <a:tab pos="7098665" algn="l"/>
              </a:tabLst>
            </a:pPr>
            <a:r>
              <a:rPr lang="en-US" sz="3200" dirty="0">
                <a:latin typeface="Arial MT"/>
                <a:cs typeface="Arial MT"/>
              </a:rPr>
              <a:t>Improves learning comprehension and retention by providing content in native languages.</a:t>
            </a:r>
          </a:p>
          <a:p>
            <a:pPr marL="469900" indent="-457200">
              <a:lnSpc>
                <a:spcPts val="503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236470" algn="l"/>
                <a:tab pos="3955415" algn="l"/>
                <a:tab pos="4697095" algn="l"/>
                <a:tab pos="5586730" algn="l"/>
                <a:tab pos="7098665" algn="l"/>
              </a:tabLst>
            </a:pPr>
            <a:r>
              <a:rPr lang="en-US" sz="3200" dirty="0">
                <a:latin typeface="Arial MT"/>
                <a:cs typeface="Arial MT"/>
              </a:rPr>
              <a:t>Supports career development through personalized guidance, motivational content, and skill-building videos. Encourages digital inclusion for rural, first-generation, and low-bandwidth users.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0337" y="454342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5969" y="631867"/>
            <a:ext cx="1526540" cy="87267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47980" marR="5080" indent="-335915">
              <a:lnSpc>
                <a:spcPts val="3229"/>
              </a:lnSpc>
              <a:spcBef>
                <a:spcPts val="204"/>
              </a:spcBef>
            </a:pPr>
            <a:r>
              <a:rPr lang="en-IN" sz="2700" b="1" dirty="0">
                <a:latin typeface="Calibri"/>
                <a:cs typeface="Calibri"/>
              </a:rPr>
              <a:t>Tech</a:t>
            </a:r>
          </a:p>
          <a:p>
            <a:pPr marL="347980" marR="5080" indent="-335915">
              <a:lnSpc>
                <a:spcPts val="3229"/>
              </a:lnSpc>
              <a:spcBef>
                <a:spcPts val="204"/>
              </a:spcBef>
            </a:pPr>
            <a:r>
              <a:rPr lang="en-IN" sz="2700" b="1" dirty="0">
                <a:latin typeface="Calibri"/>
                <a:cs typeface="Calibri"/>
              </a:rPr>
              <a:t>Wizards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115" algn="l"/>
                <a:tab pos="5943600" algn="l"/>
              </a:tabLst>
            </a:pPr>
            <a:r>
              <a:rPr spc="-10" dirty="0"/>
              <a:t>RESEARCH</a:t>
            </a:r>
            <a:r>
              <a:rPr dirty="0"/>
              <a:t>	</a:t>
            </a:r>
            <a:r>
              <a:rPr spc="114" dirty="0"/>
              <a:t>AND</a:t>
            </a:r>
            <a:r>
              <a:rPr dirty="0"/>
              <a:t>	</a:t>
            </a:r>
            <a:r>
              <a:rPr spc="-10" dirty="0"/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33824" y="1957814"/>
            <a:ext cx="14568176" cy="67043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endParaRPr lang="en-IN" sz="2400" dirty="0">
              <a:latin typeface="Arial MT"/>
              <a:cs typeface="Arial MT"/>
            </a:endParaRP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r>
              <a:rPr lang="en-IN" sz="3200" b="1" dirty="0">
                <a:solidFill>
                  <a:schemeClr val="accent1"/>
                </a:solidFill>
                <a:latin typeface="Arial MT"/>
                <a:cs typeface="Arial M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 India Report</a:t>
            </a:r>
            <a:r>
              <a:rPr lang="en-IN" sz="3200" b="1" dirty="0">
                <a:solidFill>
                  <a:schemeClr val="accent1"/>
                </a:solidFill>
                <a:latin typeface="Arial MT"/>
                <a:cs typeface="Arial MT"/>
              </a:rPr>
              <a:t> 2023-</a:t>
            </a:r>
            <a:r>
              <a:rPr lang="en-IN" sz="3200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r>
              <a:rPr lang="en-IN" sz="3200" dirty="0">
                <a:latin typeface="Arial MT"/>
                <a:cs typeface="Arial MT"/>
              </a:rPr>
              <a:t>    Language inclusion and digital literacy.</a:t>
            </a:r>
          </a:p>
          <a:p>
            <a:pPr marL="12700">
              <a:spcBef>
                <a:spcPts val="100"/>
              </a:spcBef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endParaRPr lang="en-IN" sz="2400" dirty="0">
              <a:latin typeface="Arial MT"/>
              <a:cs typeface="Arial MT"/>
            </a:endParaRP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r>
              <a:rPr lang="en-IN" sz="3200" b="1" dirty="0">
                <a:solidFill>
                  <a:schemeClr val="accent1"/>
                </a:solidFill>
                <a:latin typeface="Arial MT"/>
                <a:cs typeface="Arial M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Skill India</a:t>
            </a:r>
            <a:r>
              <a:rPr lang="en-IN" sz="3200" b="1" dirty="0">
                <a:solidFill>
                  <a:schemeClr val="accent1"/>
                </a:solidFill>
                <a:latin typeface="Arial MT"/>
                <a:cs typeface="Arial MT"/>
              </a:rPr>
              <a:t> Mission-</a:t>
            </a:r>
            <a:endParaRPr lang="en-IN" sz="3200" dirty="0">
              <a:solidFill>
                <a:schemeClr val="accent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r>
              <a:rPr lang="en-IN" sz="3200" dirty="0">
                <a:latin typeface="Arial MT"/>
                <a:cs typeface="Arial MT"/>
              </a:rPr>
              <a:t>    Vocational and skill development frameworks.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endParaRPr lang="en-IN" sz="2400" dirty="0">
              <a:latin typeface="Arial MT"/>
              <a:cs typeface="Arial MT"/>
            </a:endParaRP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r>
              <a:rPr lang="en-IN" sz="3200" b="1" dirty="0">
                <a:solidFill>
                  <a:schemeClr val="accent1"/>
                </a:solidFill>
                <a:latin typeface="Arial MT"/>
                <a:cs typeface="Arial M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Translate</a:t>
            </a:r>
            <a:r>
              <a:rPr lang="en-IN" sz="3200" b="1" dirty="0">
                <a:solidFill>
                  <a:schemeClr val="accent1"/>
                </a:solidFill>
                <a:latin typeface="Arial MT"/>
                <a:cs typeface="Arial MT"/>
              </a:rPr>
              <a:t> &amp; NMT documentation-</a:t>
            </a:r>
            <a:endParaRPr lang="en-IN" sz="3200" dirty="0">
              <a:solidFill>
                <a:schemeClr val="accent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r>
              <a:rPr lang="en-IN" sz="3200" dirty="0">
                <a:latin typeface="Arial MT"/>
                <a:cs typeface="Arial MT"/>
              </a:rPr>
              <a:t>    Neural Machine Translation research.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endParaRPr lang="en-IN" sz="3200" dirty="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r>
              <a:rPr lang="en-IN" sz="3200" b="1" dirty="0">
                <a:solidFill>
                  <a:schemeClr val="accent1"/>
                </a:solidFill>
                <a:latin typeface="Arial MT"/>
                <a:cs typeface="Arial MT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Arial MT"/>
                <a:cs typeface="Arial M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 Tube API</a:t>
            </a:r>
            <a:r>
              <a:rPr lang="en-US" sz="3200" b="1" dirty="0">
                <a:solidFill>
                  <a:schemeClr val="accent1"/>
                </a:solidFill>
                <a:latin typeface="Arial MT"/>
                <a:cs typeface="Arial MT"/>
              </a:rPr>
              <a:t> and </a:t>
            </a:r>
            <a:r>
              <a:rPr lang="en-US" sz="3200" b="1" dirty="0">
                <a:solidFill>
                  <a:schemeClr val="accent1"/>
                </a:solidFill>
                <a:latin typeface="Arial MT"/>
                <a:cs typeface="Arial M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 Base API</a:t>
            </a:r>
            <a:r>
              <a:rPr lang="en-US" sz="3200" b="1" dirty="0">
                <a:solidFill>
                  <a:schemeClr val="accent1"/>
                </a:solidFill>
                <a:latin typeface="Arial MT"/>
                <a:cs typeface="Arial MT"/>
              </a:rPr>
              <a:t> documentation-</a:t>
            </a:r>
            <a:endParaRPr lang="en-IN" sz="4000" b="1" dirty="0">
              <a:solidFill>
                <a:schemeClr val="accent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r>
              <a:rPr lang="en-IN" sz="3200" b="1" dirty="0">
                <a:latin typeface="Arial MT"/>
                <a:cs typeface="Arial MT"/>
              </a:rPr>
              <a:t>    </a:t>
            </a:r>
            <a:r>
              <a:rPr lang="en-IN" sz="3200" dirty="0">
                <a:latin typeface="Arial MT"/>
                <a:cs typeface="Arial MT"/>
              </a:rPr>
              <a:t>Video integration and personalized content.</a:t>
            </a:r>
            <a:endParaRPr lang="en-IN" sz="4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endParaRPr lang="en-IN" sz="3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0700" algn="l"/>
                <a:tab pos="2087245" algn="l"/>
                <a:tab pos="3480435" algn="l"/>
                <a:tab pos="4073525" algn="l"/>
                <a:tab pos="4963160" algn="l"/>
                <a:tab pos="7365365" algn="l"/>
                <a:tab pos="8402955" algn="l"/>
                <a:tab pos="10626725" algn="l"/>
              </a:tabLst>
            </a:pPr>
            <a:r>
              <a:rPr lang="en-IN" sz="3200" dirty="0">
                <a:latin typeface="Arial MT"/>
                <a:cs typeface="Arial MT"/>
              </a:rPr>
              <a:t> 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5609" y="35931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65499" y="547186"/>
            <a:ext cx="1526540" cy="87267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47980" marR="5080" indent="-335915">
              <a:lnSpc>
                <a:spcPts val="3229"/>
              </a:lnSpc>
              <a:spcBef>
                <a:spcPts val="204"/>
              </a:spcBef>
            </a:pPr>
            <a:r>
              <a:rPr lang="en-IN" sz="2700" b="1" dirty="0">
                <a:latin typeface="Calibri"/>
                <a:cs typeface="Calibri"/>
              </a:rPr>
              <a:t>Tech</a:t>
            </a:r>
          </a:p>
          <a:p>
            <a:pPr marL="347980" marR="5080" indent="-335915">
              <a:lnSpc>
                <a:spcPts val="3229"/>
              </a:lnSpc>
              <a:spcBef>
                <a:spcPts val="204"/>
              </a:spcBef>
            </a:pPr>
            <a:r>
              <a:rPr lang="en-IN" sz="2700" b="1" dirty="0">
                <a:latin typeface="Calibri"/>
                <a:cs typeface="Calibri"/>
              </a:rPr>
              <a:t>Wizards</a:t>
            </a:r>
          </a:p>
        </p:txBody>
      </p: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spc="-10" dirty="0"/>
              <a:t>Template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460</Words>
  <Application>Microsoft Office PowerPoint</Application>
  <PresentationFormat>Custom</PresentationFormat>
  <Paragraphs>87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MT</vt:lpstr>
      <vt:lpstr>Calibri</vt:lpstr>
      <vt:lpstr>Times New Roman</vt:lpstr>
      <vt:lpstr>Office Theme</vt:lpstr>
      <vt:lpstr>SMART INDIA HACKATHON 2025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SIH2025-IDEA-Presentation-Format.pptx</dc:title>
  <dc:creator>Niharika Arumilli</dc:creator>
  <cp:keywords>DAGzWXDoq_4,BAF0WDjaqVY,0</cp:keywords>
  <cp:lastModifiedBy>divyasrisaythala@outlook.com</cp:lastModifiedBy>
  <cp:revision>4</cp:revision>
  <dcterms:created xsi:type="dcterms:W3CDTF">2025-09-21T13:01:27Z</dcterms:created>
  <dcterms:modified xsi:type="dcterms:W3CDTF">2025-09-30T06:06:17Z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2025-09-18T00:00:00Z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2025-09-21T00:00:00Z</vt:filetime>
  </property>
  <property fmtid="{D5CDD505-2E9C-101B-9397-08002B2CF9AE}" pid="5" name="Producer">
    <vt:lpwstr>Canva</vt:lpwstr>
  </property>
</Properties>
</file>